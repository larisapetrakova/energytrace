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107" d="100"/>
          <a:sy n="107" d="100"/>
        </p:scale>
        <p:origin x="76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7FFA5-0DAD-DA48-BE2D-541053D0B55E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F5805-37D0-FA41-B33B-ABC18AE8D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61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F5805-37D0-FA41-B33B-ABC18AE8DD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8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B52D-7332-22D3-F9CB-4FDC36943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62CD7-05C1-B98A-9BEE-86B11AED0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F30B-772F-8063-6292-478562BF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253F-D84C-AFAF-4F92-9BFAABF4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A4904-29D6-8D71-D265-90AFA5E0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8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06BA-DD24-F316-A2B5-78083F29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3D1F4-F13C-3A6B-1CAB-A91A0752C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C62C-5876-1C0F-6B60-7EFF1B2E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3DCF-A871-97F3-B143-2DB3F05C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57E3C-1117-B1F1-DD33-8A17507B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BED3-B175-B4B0-6AC1-3E02F4AA8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7B66C-DB83-99B1-89C4-70FA9414B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DBF7A-979F-B3A6-5706-6ECD0E4B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A2C2-4DCD-75F9-5264-BAE73857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EE5A6-BB04-5103-87FD-9E731F1F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5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CB21-157B-1B1C-B50E-6DD12A68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E670-B8A1-B98B-B42E-C89BF8F03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70A79-371B-CDA2-4221-4AA5E4E05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973EF-0A3A-CBE1-E7A1-C299CBD1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C0DD7-60E4-6D6C-675B-DE8A0066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BF8E8-ED76-4602-A7F9-5FA144AD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8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A596-DF71-C0A0-6AA1-788E6981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CC30F-FBD7-FE47-B010-13C4307E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2E84E-CF0B-679E-BA5D-5ADDC088F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B5A8A-1170-9AFB-6A6C-DB65B45A3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419BD-2CEB-6AB3-5C14-5C47CBAF1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4F051-8188-A8EA-7F50-D09B4D3A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DDEA34-232D-F911-E07D-68F51567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7B056-D2A2-2D8C-A3BE-24F68C16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0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2370-E16A-DFEC-B48B-F3D2E611B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1F029-B2DA-BE2D-BFB4-23F06CDD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5F713-CDB4-C8D7-3672-C425D357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1DB07-309F-134C-7CDD-E29BF123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9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0583F-69BB-B7DA-D15A-71C93032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C5CD9-68D3-60AE-725F-5EAF63D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43E6B-6875-01B2-A1C4-40BF552E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F7185-9D10-E113-9C1A-6D13CC70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C2F1-9B34-3A70-F28B-7EADDEDE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AA6FA-C2ED-BE15-C363-25D3BB7AA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41E56-014D-A158-54A5-0A87C120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733BF-7602-72EE-9151-EBA1DAC7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0ACE6-C3E6-9BA2-17D6-5183A859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2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6EDC-6D59-77D9-CADB-F1D14152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2DBE6-D0C6-588C-8D5B-7F69E9C26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5A3E3-5F67-E74B-E07C-76C77FF22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14715-D1EC-30BE-21FD-1362D7D5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953EB-E3D2-C08F-D562-B24AB28F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AFCAB-A364-DD88-5AB7-95370EEA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8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123D-9DC9-C3A3-DE02-763FC163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266D7-B628-F355-9114-C3BB5EF02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F51BB-DA5B-E3FC-7237-55FCB0E6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8A80-4832-4B7B-DCCA-674B836E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1FC1-F303-CA7A-A1DA-EF8655A8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2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13C34-C6B6-BF69-F427-3460BEC35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EF30-10B1-926E-3D6A-F7DD6F216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94EC9-B95A-A258-B262-9EDBAB65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9B7D7-3EA1-D613-9097-E3FB30D2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A60AA-B4D9-7D6D-16DD-EAEC4DE7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0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E478F-00D2-08BD-DF28-101ED4EA5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18CE-B43E-28C5-0B65-633BF5A4A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8AACD-7953-505E-003F-F6EB0F2BB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285D0-FDE5-6D49-97BE-233A306B0CF9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1F3C7-5759-3B9A-37B5-F7CECB183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0366E-DD7A-1246-01EB-ACAAFBF58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7A7EA0-280A-0D40-AF32-E0C4927A9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9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1582-C36D-DB7E-65E0-D331BA0245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EnergyTrace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0AC0E-D790-14A6-E14A-6FBE909E8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See where your energy really comes from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6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D917-959F-044A-F9EC-1805F16C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C8EC-8F02-C51D-830E-C3C3E37ED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Consumers and small businesses are told their electricity is </a:t>
            </a:r>
            <a:r>
              <a:rPr lang="en-GB" i="1" dirty="0"/>
              <a:t>“100% renewable”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but in reality, grid electrons are mixed — and even green tariffs often rely on annual certificates (REGOs) that don’t reflect real-time renewable usage.</a:t>
            </a:r>
          </a:p>
          <a:p>
            <a:r>
              <a:rPr lang="en-GB" dirty="0"/>
              <a:t>This </a:t>
            </a:r>
            <a:r>
              <a:rPr lang="en-GB" b="1" dirty="0"/>
              <a:t>transparency gap</a:t>
            </a:r>
            <a:r>
              <a:rPr lang="en-GB" dirty="0"/>
              <a:t> is becoming critical as:</a:t>
            </a:r>
          </a:p>
          <a:p>
            <a:pPr lvl="1"/>
            <a:r>
              <a:rPr lang="en-GB" dirty="0"/>
              <a:t>Companies must report </a:t>
            </a:r>
            <a:r>
              <a:rPr lang="en-GB" i="1" dirty="0"/>
              <a:t>actual</a:t>
            </a:r>
            <a:r>
              <a:rPr lang="en-GB" dirty="0"/>
              <a:t> carbon intensity of operations (CSRD, GHG Protocol updates).</a:t>
            </a:r>
          </a:p>
          <a:p>
            <a:pPr lvl="1"/>
            <a:r>
              <a:rPr lang="en-GB" dirty="0"/>
              <a:t>Smart homes, EVs, and batteries could be scheduled based on real-time renewable availability — if users had access to that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4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4495-039C-5B2D-F55E-7CF2BD55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BBAB-1809-C2DD-3B62-4E8E99C6C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 err="1"/>
              <a:t>EnergyTrace</a:t>
            </a:r>
            <a:r>
              <a:rPr lang="en-GB" dirty="0"/>
              <a:t> is a </a:t>
            </a:r>
            <a:r>
              <a:rPr lang="en-GB" b="1" dirty="0"/>
              <a:t>SaaS platform + API</a:t>
            </a:r>
            <a:r>
              <a:rPr lang="en-GB" dirty="0"/>
              <a:t> that shows the </a:t>
            </a:r>
            <a:r>
              <a:rPr lang="en-GB" i="1" dirty="0"/>
              <a:t>real-time carbon intensity and renewable share</a:t>
            </a:r>
            <a:r>
              <a:rPr lang="en-GB" dirty="0"/>
              <a:t> of a household’s or SME’s electricity consumption.</a:t>
            </a:r>
          </a:p>
          <a:p>
            <a:pPr marL="0" indent="0">
              <a:buNone/>
            </a:pPr>
            <a:r>
              <a:rPr lang="en-GB" dirty="0"/>
              <a:t>	It combines:</a:t>
            </a:r>
          </a:p>
          <a:p>
            <a:pPr lvl="1"/>
            <a:r>
              <a:rPr lang="en-GB" dirty="0"/>
              <a:t>Real-time grid carbon data (National Grid ESO API)</a:t>
            </a:r>
          </a:p>
          <a:p>
            <a:pPr lvl="1"/>
            <a:r>
              <a:rPr lang="en-GB" dirty="0"/>
              <a:t>Smart meter or device consumption data</a:t>
            </a:r>
          </a:p>
          <a:p>
            <a:pPr lvl="1"/>
            <a:r>
              <a:rPr lang="en-GB" dirty="0"/>
              <a:t>Machine learning to estimate how much of your power is actually renewable, hour by hour.</a:t>
            </a:r>
          </a:p>
          <a:p>
            <a:r>
              <a:rPr lang="en-GB" dirty="0"/>
              <a:t>Then it visualizes:</a:t>
            </a:r>
          </a:p>
          <a:p>
            <a:pPr lvl="1"/>
            <a:r>
              <a:rPr lang="en-GB" dirty="0"/>
              <a:t>📊 Renewable % used today / this week / month</a:t>
            </a:r>
          </a:p>
          <a:p>
            <a:pPr lvl="1"/>
            <a:r>
              <a:rPr lang="en-GB" dirty="0"/>
              <a:t>🌱 Carbon intensity trends</a:t>
            </a:r>
          </a:p>
          <a:p>
            <a:pPr lvl="1"/>
            <a:r>
              <a:rPr lang="en-GB" dirty="0"/>
              <a:t>⚡ Smart tips: “Run your dryer at 2–4 p.m. to use 80% renewable energy”</a:t>
            </a:r>
          </a:p>
          <a:p>
            <a:pPr lvl="1"/>
            <a:r>
              <a:rPr lang="en-GB" dirty="0"/>
              <a:t>🧾 Optional export: auto-generated reports for ESG or carbon accounting.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4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25D8-9ADA-57DA-F467-F8F01980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5BE82-1B39-E3E9-24BD-39407229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Early adopters / green households</a:t>
            </a:r>
            <a:r>
              <a:rPr lang="en-GB" dirty="0"/>
              <a:t> — those with solar, EVs, or time-of-use tariffs who care about carbon footprint.</a:t>
            </a:r>
          </a:p>
          <a:p>
            <a:r>
              <a:rPr lang="en-GB" b="1" dirty="0"/>
              <a:t>Small businesses</a:t>
            </a:r>
            <a:r>
              <a:rPr lang="en-GB" dirty="0"/>
              <a:t> — coffee shops, studios, or offices who want credible sustainability claims.</a:t>
            </a:r>
          </a:p>
          <a:p>
            <a:r>
              <a:rPr lang="en-GB" b="1" dirty="0"/>
              <a:t>Sustainability professionals</a:t>
            </a:r>
            <a:r>
              <a:rPr lang="en-GB" dirty="0"/>
              <a:t> — use the API for Scope 2 carbon tracking.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70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5344-3958-B1B9-0130-3CF848F5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10F1-509D-036B-2E12-0CD2443B0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Real-time renewable share + CO₂ intensity (per UK region)</a:t>
            </a:r>
          </a:p>
          <a:p>
            <a:r>
              <a:rPr lang="en-GB" dirty="0"/>
              <a:t>Daily/weekly dashboard with insights (“You used 63% renewable energy this week”)</a:t>
            </a:r>
          </a:p>
          <a:p>
            <a:r>
              <a:rPr lang="en-GB" dirty="0"/>
              <a:t>Smart alerts (“Wait one hour — solar is peaking and grid is 90% renewable”)</a:t>
            </a:r>
          </a:p>
          <a:p>
            <a:r>
              <a:rPr lang="en-GB" dirty="0"/>
              <a:t>Exportable carbon report (CSV or PDF)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(Later) Integration with smart plugs, EV chargers, or heat pumps for automated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405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1836-8600-A002-36B0-9877256C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88CB50-C63D-B8A1-89AF-8799CA7C1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7"/>
            <a:ext cx="10740242" cy="4555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dirty="0"/>
              <a:t>Freemium app: basic dashboards free; premium (£3–5/</a:t>
            </a:r>
            <a:r>
              <a:rPr lang="en-US" altLang="en-US" dirty="0" err="1"/>
              <a:t>mo</a:t>
            </a:r>
            <a:r>
              <a:rPr lang="en-US" altLang="en-US" dirty="0"/>
              <a:t>) adds automation + reports</a:t>
            </a:r>
          </a:p>
          <a:p>
            <a:r>
              <a:rPr lang="en-US" altLang="en-US" dirty="0"/>
              <a:t>API license: for sustainability software or energy suppliers to embed transparency data</a:t>
            </a:r>
          </a:p>
          <a:p>
            <a:r>
              <a:rPr lang="en-US" altLang="en-US" dirty="0"/>
              <a:t>White-label option for green energy brands or smart device manufacturers</a:t>
            </a:r>
          </a:p>
        </p:txBody>
      </p:sp>
    </p:spTree>
    <p:extLst>
      <p:ext uri="{BB962C8B-B14F-4D97-AF65-F5344CB8AC3E}">
        <p14:creationId xmlns:p14="http://schemas.microsoft.com/office/powerpoint/2010/main" val="2548040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4968-8453-72FF-07F1-72573608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Sustainability</a:t>
            </a:r>
            <a:r>
              <a:rPr lang="en-GB" b="1" dirty="0"/>
              <a:t> </a:t>
            </a:r>
            <a:r>
              <a:rPr lang="en-GB" dirty="0"/>
              <a:t>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F956-47AB-14A0-B6CD-6A9FAA604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Empowers consumers with </a:t>
            </a:r>
            <a:r>
              <a:rPr lang="en-GB" b="1" dirty="0"/>
              <a:t>data-driven energy choices</a:t>
            </a:r>
            <a:endParaRPr lang="en-GB" dirty="0"/>
          </a:p>
          <a:p>
            <a:r>
              <a:rPr lang="en-GB" dirty="0"/>
              <a:t>Makes </a:t>
            </a:r>
            <a:r>
              <a:rPr lang="en-GB" b="1" dirty="0"/>
              <a:t>real carbon reduction visible and verifiable</a:t>
            </a:r>
            <a:endParaRPr lang="en-GB" dirty="0"/>
          </a:p>
          <a:p>
            <a:r>
              <a:rPr lang="en-GB" dirty="0"/>
              <a:t>Creates market pressure for </a:t>
            </a:r>
            <a:r>
              <a:rPr lang="en-GB" b="1" dirty="0"/>
              <a:t>truly renewable supply transparency</a:t>
            </a:r>
            <a:endParaRPr lang="en-GB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step for load management</a:t>
            </a:r>
          </a:p>
        </p:txBody>
      </p:sp>
    </p:spTree>
    <p:extLst>
      <p:ext uri="{BB962C8B-B14F-4D97-AF65-F5344CB8AC3E}">
        <p14:creationId xmlns:p14="http://schemas.microsoft.com/office/powerpoint/2010/main" val="99941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BE87-834C-5772-998D-61E9A195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MVP Vision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13A6-6BCC-47E2-8D83-20B134AB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simple, elegant web dashboard (built in </a:t>
            </a:r>
            <a:r>
              <a:rPr lang="en-GB" dirty="0" err="1"/>
              <a:t>Streamlit</a:t>
            </a:r>
            <a:r>
              <a:rPr lang="en-GB" dirty="0"/>
              <a:t> or Dash) that:</a:t>
            </a:r>
          </a:p>
          <a:p>
            <a:r>
              <a:rPr lang="en-GB" dirty="0"/>
              <a:t>Pulls hourly grid carbon data from National Grid ESO API</a:t>
            </a:r>
          </a:p>
          <a:p>
            <a:r>
              <a:rPr lang="en-GB" dirty="0"/>
              <a:t>Lets users input postcode or smart meter data</a:t>
            </a:r>
          </a:p>
          <a:p>
            <a:r>
              <a:rPr lang="en-GB" dirty="0"/>
              <a:t>Calculates and visualizes their personal “renewable energy score” over time</a:t>
            </a:r>
          </a:p>
          <a:p>
            <a:r>
              <a:rPr lang="en-GB" dirty="0"/>
              <a:t>Later versions could integrate:</a:t>
            </a:r>
          </a:p>
          <a:p>
            <a:r>
              <a:rPr lang="en-GB" dirty="0"/>
              <a:t>Real smart meters (via DCC or Octopus API)</a:t>
            </a:r>
          </a:p>
          <a:p>
            <a:r>
              <a:rPr lang="en-GB" dirty="0"/>
              <a:t>EV/heat pump device data</a:t>
            </a:r>
          </a:p>
          <a:p>
            <a:r>
              <a:rPr lang="en-GB" dirty="0"/>
              <a:t>Peer comparisons or gamified carbon reduction (“Top 10% clean energy users in London this week!”)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04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DAC8-BBC6-D82B-81B1-21DD4B83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Strategy – 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9F33-12D3-D20D-82BE-C21AAA68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Phase 1 – </a:t>
            </a:r>
            <a:r>
              <a:rPr lang="en-GB" b="1" dirty="0" err="1"/>
              <a:t>EnergyTrace</a:t>
            </a:r>
            <a:r>
              <a:rPr lang="en-GB" b="1" dirty="0"/>
              <a:t> (Transparency)</a:t>
            </a:r>
          </a:p>
          <a:p>
            <a:pPr marL="0" indent="0">
              <a:buNone/>
            </a:pPr>
            <a:r>
              <a:rPr lang="en-GB" b="1" dirty="0"/>
              <a:t>Goal:</a:t>
            </a:r>
            <a:r>
              <a:rPr lang="en-GB" dirty="0"/>
              <a:t> Build a lean, grant-eligible MVP that provides clear, data-driven value.</a:t>
            </a:r>
          </a:p>
          <a:p>
            <a:pPr marL="0" indent="0">
              <a:buNone/>
            </a:pPr>
            <a:r>
              <a:rPr lang="en-GB" b="1" dirty="0"/>
              <a:t>What you build:</a:t>
            </a:r>
            <a:endParaRPr lang="en-GB" dirty="0"/>
          </a:p>
          <a:p>
            <a:r>
              <a:rPr lang="en-GB" dirty="0"/>
              <a:t>Simple dashboard with live carbon intensity and renewable share</a:t>
            </a:r>
          </a:p>
          <a:p>
            <a:r>
              <a:rPr lang="en-GB" dirty="0"/>
              <a:t>User region selection (postcode or smart meter ID)</a:t>
            </a:r>
          </a:p>
          <a:p>
            <a:r>
              <a:rPr lang="en-GB" dirty="0"/>
              <a:t>Daily/weekly renewable energy score</a:t>
            </a:r>
          </a:p>
          <a:p>
            <a:r>
              <a:rPr lang="en-GB" dirty="0"/>
              <a:t>Optional email summary (“Tomorrow 2–5pm: greenest hours!”)</a:t>
            </a:r>
          </a:p>
          <a:p>
            <a:pPr marL="0" indent="0">
              <a:buNone/>
            </a:pPr>
            <a:r>
              <a:rPr lang="en-GB" b="1" dirty="0"/>
              <a:t>What you gain:</a:t>
            </a:r>
            <a:endParaRPr lang="en-GB" dirty="0"/>
          </a:p>
          <a:p>
            <a:r>
              <a:rPr lang="en-GB" dirty="0"/>
              <a:t>Users + brand recognition for energy awareness</a:t>
            </a:r>
          </a:p>
          <a:p>
            <a:r>
              <a:rPr lang="en-GB" dirty="0"/>
              <a:t>Dataset of anonymized consumption + </a:t>
            </a:r>
            <a:r>
              <a:rPr lang="en-GB" dirty="0" err="1"/>
              <a:t>behavioral</a:t>
            </a:r>
            <a:r>
              <a:rPr lang="en-GB" dirty="0"/>
              <a:t> insights</a:t>
            </a:r>
          </a:p>
          <a:p>
            <a:r>
              <a:rPr lang="en-GB" dirty="0"/>
              <a:t>Partnerships with universities, green utilities, or local councils</a:t>
            </a:r>
          </a:p>
          <a:p>
            <a:r>
              <a:rPr lang="en-GB" dirty="0"/>
              <a:t>Positioning as </a:t>
            </a:r>
            <a:r>
              <a:rPr lang="en-GB" i="1" dirty="0"/>
              <a:t>trusted sustainability analytics platform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Funding opportunities:</a:t>
            </a:r>
            <a:endParaRPr lang="en-GB" dirty="0"/>
          </a:p>
          <a:p>
            <a:r>
              <a:rPr lang="en-GB" dirty="0"/>
              <a:t>Innovate UK “Net Zero Living” or “Energy Data Visibility”</a:t>
            </a:r>
          </a:p>
          <a:p>
            <a:r>
              <a:rPr lang="en-GB" dirty="0"/>
              <a:t>Local innovation accelerators (City, University of London / UK Power Networks / Energy Systems Catapult)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88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F175-BFA7-E74F-47C7-1E15AD31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Strategy – 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F5EF-B188-3564-EEBE-C91AC9580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Phase 2 – </a:t>
            </a:r>
            <a:r>
              <a:rPr lang="en-GB" b="1" dirty="0" err="1"/>
              <a:t>FlexiWatt</a:t>
            </a:r>
            <a:r>
              <a:rPr lang="en-GB" b="1" dirty="0"/>
              <a:t> (Optimization)</a:t>
            </a:r>
          </a:p>
          <a:p>
            <a:pPr marL="0" indent="0">
              <a:buNone/>
            </a:pPr>
            <a:r>
              <a:rPr lang="en-GB" b="1" dirty="0"/>
              <a:t>Goal:</a:t>
            </a:r>
            <a:r>
              <a:rPr lang="en-GB" dirty="0"/>
              <a:t> Transition from awareness → automated impact.</a:t>
            </a:r>
          </a:p>
          <a:p>
            <a:pPr marL="0" indent="0">
              <a:buNone/>
            </a:pPr>
            <a:r>
              <a:rPr lang="en-GB" b="1" dirty="0"/>
              <a:t>How you evolve:</a:t>
            </a:r>
            <a:endParaRPr lang="en-GB" dirty="0"/>
          </a:p>
          <a:p>
            <a:r>
              <a:rPr lang="en-GB" dirty="0"/>
              <a:t>Use </a:t>
            </a:r>
            <a:r>
              <a:rPr lang="en-GB" dirty="0" err="1"/>
              <a:t>EnergyTrace</a:t>
            </a:r>
            <a:r>
              <a:rPr lang="en-GB" dirty="0"/>
              <a:t> data to predict “best times to use electricity”</a:t>
            </a:r>
          </a:p>
          <a:p>
            <a:r>
              <a:rPr lang="en-GB" dirty="0"/>
              <a:t>Add smart device integrations (EVs, thermostats, smart plugs)</a:t>
            </a:r>
          </a:p>
          <a:p>
            <a:r>
              <a:rPr lang="en-GB" dirty="0"/>
              <a:t>Offer automatic scheduling or control</a:t>
            </a:r>
          </a:p>
          <a:p>
            <a:r>
              <a:rPr lang="en-GB" dirty="0"/>
              <a:t>Create B2B offers (e.g., “optimize all your offices’ energy schedules”)</a:t>
            </a:r>
          </a:p>
          <a:p>
            <a:pPr marL="0" indent="0">
              <a:buNone/>
            </a:pPr>
            <a:r>
              <a:rPr lang="en-GB" b="1" dirty="0"/>
              <a:t>By that time, you’ll have:</a:t>
            </a:r>
            <a:endParaRPr lang="en-GB" dirty="0"/>
          </a:p>
          <a:p>
            <a:r>
              <a:rPr lang="en-GB" dirty="0"/>
              <a:t>Verified data pipeline</a:t>
            </a:r>
          </a:p>
          <a:p>
            <a:r>
              <a:rPr lang="en-GB" dirty="0"/>
              <a:t>Early adopters who trust your insights</a:t>
            </a:r>
          </a:p>
          <a:p>
            <a:r>
              <a:rPr lang="en-GB" dirty="0"/>
              <a:t>Strong story for investors or grant scaling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8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1B04-AAEF-32FB-0EDF-F7A2E9FE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8425-0720-A4A3-4E10-4715BF49C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“We’re building the digital bridge between awareness and action in the clean energy transition.</a:t>
            </a:r>
            <a:br>
              <a:rPr lang="en-GB" dirty="0"/>
            </a:br>
            <a:r>
              <a:rPr lang="en-GB" b="1" dirty="0"/>
              <a:t>Phase 1: </a:t>
            </a:r>
            <a:r>
              <a:rPr lang="en-GB" b="1" dirty="0" err="1"/>
              <a:t>EnergyTrace</a:t>
            </a:r>
            <a:r>
              <a:rPr lang="en-GB" dirty="0"/>
              <a:t> empowers households and SMEs with transparent data on their real renewable energy usage.</a:t>
            </a:r>
            <a:br>
              <a:rPr lang="en-GB" dirty="0"/>
            </a:br>
            <a:r>
              <a:rPr lang="en-GB" b="1" dirty="0"/>
              <a:t>Phase 2: </a:t>
            </a:r>
            <a:r>
              <a:rPr lang="en-GB" b="1" dirty="0" err="1"/>
              <a:t>FlexiWatt</a:t>
            </a:r>
            <a:r>
              <a:rPr lang="en-GB" dirty="0"/>
              <a:t> builds on that foundation to automate decisions — optimizing when and how they use electricity for both savings and carbon reduction.”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3094-7E26-76C9-5962-D4D123EB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“</a:t>
            </a:r>
            <a:r>
              <a:rPr lang="en-GB" dirty="0" err="1"/>
              <a:t>EnergyTrace</a:t>
            </a:r>
            <a:r>
              <a:rPr lang="en-GB" dirty="0"/>
              <a:t>” Works (Technically)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3006B-B829-5384-534F-4F84D5EFD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b="1" dirty="0"/>
              <a:t>1. Grid-Level Transparency Exists</a:t>
            </a:r>
          </a:p>
          <a:p>
            <a:r>
              <a:rPr lang="en-GB" dirty="0"/>
              <a:t>Every electricity system operator (e.g., </a:t>
            </a:r>
            <a:r>
              <a:rPr lang="en-GB" b="1" dirty="0"/>
              <a:t>National Grid ESO</a:t>
            </a:r>
            <a:r>
              <a:rPr lang="en-GB" dirty="0"/>
              <a:t> in the UK) publishes:</a:t>
            </a:r>
          </a:p>
          <a:p>
            <a:r>
              <a:rPr lang="en-GB" b="1" dirty="0"/>
              <a:t>Real-time generation mix</a:t>
            </a:r>
            <a:r>
              <a:rPr lang="en-GB" dirty="0"/>
              <a:t> (MW by source: gas, nuclear, solar, wind, imports)</a:t>
            </a:r>
          </a:p>
          <a:p>
            <a:r>
              <a:rPr lang="en-GB" b="1" dirty="0"/>
              <a:t>Carbon intensity</a:t>
            </a:r>
            <a:r>
              <a:rPr lang="en-GB" dirty="0"/>
              <a:t> (</a:t>
            </a:r>
            <a:r>
              <a:rPr lang="en-GB" dirty="0" err="1"/>
              <a:t>gCO</a:t>
            </a:r>
            <a:r>
              <a:rPr lang="en-GB" dirty="0"/>
              <a:t>₂/kWh)</a:t>
            </a:r>
          </a:p>
          <a:p>
            <a:r>
              <a:rPr lang="en-GB" b="1" dirty="0"/>
              <a:t>Regional breakdowns</a:t>
            </a:r>
            <a:r>
              <a:rPr lang="en-GB" dirty="0"/>
              <a:t> (14 UK grid zones)</a:t>
            </a:r>
          </a:p>
          <a:p>
            <a:r>
              <a:rPr lang="en-GB" b="1" dirty="0"/>
              <a:t>Forecasts</a:t>
            </a:r>
            <a:r>
              <a:rPr lang="en-GB" dirty="0"/>
              <a:t> for the next 24–48 hours</a:t>
            </a:r>
          </a:p>
          <a:p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At 2:00 p.m. today in London,</a:t>
            </a:r>
          </a:p>
          <a:p>
            <a:r>
              <a:rPr lang="en-GB" dirty="0"/>
              <a:t>Wind: 38%, Solar: 14%, Gas: 31%, Nuclear: 13%, Others: 4%</a:t>
            </a:r>
            <a:br>
              <a:rPr lang="en-GB" dirty="0"/>
            </a:br>
            <a:r>
              <a:rPr lang="en-GB" dirty="0"/>
              <a:t>→ Estimated carbon intensity: ~120 </a:t>
            </a:r>
            <a:r>
              <a:rPr lang="en-GB" dirty="0" err="1"/>
              <a:t>gCO</a:t>
            </a:r>
            <a:r>
              <a:rPr lang="en-GB" dirty="0"/>
              <a:t>₂/kWh</a:t>
            </a:r>
          </a:p>
          <a:p>
            <a:r>
              <a:rPr lang="en-GB" dirty="0"/>
              <a:t>This data is publicly available via the </a:t>
            </a:r>
            <a:r>
              <a:rPr lang="en-GB" b="1" dirty="0"/>
              <a:t>Carbon Intensity API</a:t>
            </a:r>
            <a:r>
              <a:rPr lang="en-GB" dirty="0"/>
              <a:t> (National Grid ESO &amp; Electricity Maps also provide global versions).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2. User’s Energy Consumption Data</a:t>
            </a:r>
          </a:p>
          <a:p>
            <a:r>
              <a:rPr lang="en-GB" dirty="0"/>
              <a:t>From the user, you can get:</a:t>
            </a:r>
          </a:p>
          <a:p>
            <a:r>
              <a:rPr lang="en-GB" dirty="0"/>
              <a:t>Smart meter data (half-hourly or hourly)</a:t>
            </a:r>
          </a:p>
          <a:p>
            <a:r>
              <a:rPr lang="en-GB" dirty="0"/>
              <a:t>Or approximate usage (e.g., “2 kWh between 1–3 p.m.”, estimated from tariffs or manual input)</a:t>
            </a:r>
          </a:p>
          <a:p>
            <a:r>
              <a:rPr lang="en-GB" dirty="0"/>
              <a:t>Or even just time-of-use </a:t>
            </a:r>
            <a:r>
              <a:rPr lang="en-GB" dirty="0" err="1"/>
              <a:t>behaviors</a:t>
            </a:r>
            <a:r>
              <a:rPr lang="en-GB" dirty="0"/>
              <a:t> for initial MVP (e.g., “I charged my EV at 9 p.m.”)</a:t>
            </a:r>
          </a:p>
          <a:p>
            <a:r>
              <a:rPr lang="en-GB" dirty="0"/>
              <a:t>This doesn’t have to be highly precise at first — it’s enough to timestamp consumption.</a:t>
            </a:r>
          </a:p>
        </p:txBody>
      </p:sp>
    </p:spTree>
    <p:extLst>
      <p:ext uri="{BB962C8B-B14F-4D97-AF65-F5344CB8AC3E}">
        <p14:creationId xmlns:p14="http://schemas.microsoft.com/office/powerpoint/2010/main" val="240009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5FA8-6ED1-40E7-300D-30E1B7D2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“</a:t>
            </a:r>
            <a:r>
              <a:rPr lang="en-GB" dirty="0" err="1"/>
              <a:t>EnergyTrace</a:t>
            </a:r>
            <a:r>
              <a:rPr lang="en-GB" dirty="0"/>
              <a:t>” Works (Technically) - </a:t>
            </a:r>
            <a:r>
              <a:rPr lang="en-GB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A2B4-40E5-85BC-EB57-C48C6EB1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b="1" dirty="0"/>
              <a:t>3. Data Fusion: Matching Time + Region</a:t>
            </a:r>
          </a:p>
          <a:p>
            <a:r>
              <a:rPr lang="en-GB" dirty="0"/>
              <a:t>“</a:t>
            </a:r>
            <a:r>
              <a:rPr lang="en-GB" dirty="0" err="1"/>
              <a:t>BetYou</a:t>
            </a:r>
            <a:r>
              <a:rPr lang="en-GB" dirty="0"/>
              <a:t> align the user’s </a:t>
            </a:r>
            <a:r>
              <a:rPr lang="en-GB" b="1" dirty="0"/>
              <a:t>time</a:t>
            </a:r>
            <a:r>
              <a:rPr lang="en-GB" dirty="0"/>
              <a:t> and </a:t>
            </a:r>
            <a:r>
              <a:rPr lang="en-GB" b="1" dirty="0"/>
              <a:t>location</a:t>
            </a:r>
            <a:r>
              <a:rPr lang="en-GB" dirty="0"/>
              <a:t> with grid data:</a:t>
            </a:r>
          </a:p>
          <a:p>
            <a:r>
              <a:rPr lang="en-GB" dirty="0"/>
              <a:t>ween 1–2 p.m., your region’s electricity mix was 82% renewable.”</a:t>
            </a:r>
          </a:p>
          <a:p>
            <a:r>
              <a:rPr lang="en-GB" dirty="0"/>
              <a:t>Then </a:t>
            </a:r>
            <a:r>
              <a:rPr lang="en-GB" dirty="0" err="1"/>
              <a:t>EnergyTrace</a:t>
            </a:r>
            <a:r>
              <a:rPr lang="en-GB" dirty="0"/>
              <a:t> can say:</a:t>
            </a:r>
          </a:p>
          <a:p>
            <a:r>
              <a:rPr lang="en-GB" dirty="0"/>
              <a:t>“Your energy that hour was </a:t>
            </a:r>
            <a:r>
              <a:rPr lang="en-GB" i="1" dirty="0"/>
              <a:t>approximately 82% renewable</a:t>
            </a:r>
            <a:r>
              <a:rPr lang="en-GB" dirty="0"/>
              <a:t>, with a carbon intensity of 115 </a:t>
            </a:r>
            <a:r>
              <a:rPr lang="en-GB" dirty="0" err="1"/>
              <a:t>gCO</a:t>
            </a:r>
            <a:r>
              <a:rPr lang="en-GB" dirty="0"/>
              <a:t>₂/kWh.”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4. Smart Metrics Derived</a:t>
            </a:r>
          </a:p>
          <a:p>
            <a:r>
              <a:rPr lang="en-GB" dirty="0"/>
              <a:t>With this logic, </a:t>
            </a:r>
            <a:r>
              <a:rPr lang="en-GB" dirty="0" err="1"/>
              <a:t>EnergyTrace</a:t>
            </a:r>
            <a:r>
              <a:rPr lang="en-GB" dirty="0"/>
              <a:t> can generate:</a:t>
            </a:r>
          </a:p>
          <a:p>
            <a:r>
              <a:rPr lang="en-GB" dirty="0"/>
              <a:t>📊 </a:t>
            </a:r>
            <a:r>
              <a:rPr lang="en-GB" b="1" dirty="0"/>
              <a:t>Renewable Share (%)</a:t>
            </a:r>
            <a:r>
              <a:rPr lang="en-GB" dirty="0"/>
              <a:t> of all electricity you used this week</a:t>
            </a:r>
          </a:p>
          <a:p>
            <a:r>
              <a:rPr lang="en-GB" dirty="0"/>
              <a:t>🌱 </a:t>
            </a:r>
            <a:r>
              <a:rPr lang="en-GB" b="1" dirty="0"/>
              <a:t>Carbon Intensity Trend</a:t>
            </a:r>
            <a:r>
              <a:rPr lang="en-GB" dirty="0"/>
              <a:t> (how clean your electricity was over time)</a:t>
            </a:r>
          </a:p>
          <a:p>
            <a:r>
              <a:rPr lang="en-GB" dirty="0"/>
              <a:t>🔋 </a:t>
            </a:r>
            <a:r>
              <a:rPr lang="en-GB" b="1" dirty="0"/>
              <a:t>Impact Forecast</a:t>
            </a:r>
            <a:r>
              <a:rPr lang="en-GB" dirty="0"/>
              <a:t> (“Tomorrow 12–4 p.m. will be the cleanest window — plan energy use then!”)</a:t>
            </a:r>
          </a:p>
          <a:p>
            <a:r>
              <a:rPr lang="en-GB" dirty="0"/>
              <a:t>So even though we can’t tag individual electrons, we can </a:t>
            </a:r>
            <a:r>
              <a:rPr lang="en-GB" b="1" dirty="0"/>
              <a:t>trace the quality of the electricity stream</a:t>
            </a:r>
            <a:r>
              <a:rPr lang="en-GB" dirty="0"/>
              <a:t> with high time and spatial resolution.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b="1" dirty="0"/>
              <a:t>5. Optional Advanced Steps</a:t>
            </a:r>
          </a:p>
          <a:p>
            <a:r>
              <a:rPr lang="en-GB" dirty="0"/>
              <a:t>Later, you can integrate:</a:t>
            </a:r>
          </a:p>
          <a:p>
            <a:r>
              <a:rPr lang="en-GB" b="1" dirty="0"/>
              <a:t>Supplier-level data</a:t>
            </a:r>
            <a:r>
              <a:rPr lang="en-GB" dirty="0"/>
              <a:t>: e.g., if a user’s tariff claims 100% renewable, you can overlay REGO (Renewable Energy Guarantee of Origin) certificates or supplier generation assets.</a:t>
            </a:r>
          </a:p>
          <a:p>
            <a:r>
              <a:rPr lang="en-GB" b="1" dirty="0"/>
              <a:t>Home generation data</a:t>
            </a:r>
            <a:r>
              <a:rPr lang="en-GB" dirty="0"/>
              <a:t> (from PV or battery systems).</a:t>
            </a:r>
          </a:p>
          <a:p>
            <a:r>
              <a:rPr lang="en-GB" b="1" dirty="0"/>
              <a:t>Peer-region comparison</a:t>
            </a:r>
            <a:r>
              <a:rPr lang="en-GB" dirty="0"/>
              <a:t> (e.g., “Your area used 10% more renewable energy than average.”)</a:t>
            </a:r>
          </a:p>
        </p:txBody>
      </p:sp>
    </p:spTree>
    <p:extLst>
      <p:ext uri="{BB962C8B-B14F-4D97-AF65-F5344CB8AC3E}">
        <p14:creationId xmlns:p14="http://schemas.microsoft.com/office/powerpoint/2010/main" val="4252813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A296-557B-E92F-28B9-EAE22D86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6C6E-FE35-3CFA-BC81-E841A4949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It’s like how weather apps don’t know which exact air molecules you breathe —</a:t>
            </a:r>
            <a:br>
              <a:rPr lang="en-GB" dirty="0"/>
            </a:br>
            <a:r>
              <a:rPr lang="en-GB" dirty="0"/>
              <a:t>but they can </a:t>
            </a:r>
            <a:r>
              <a:rPr lang="en-GB" i="1" dirty="0"/>
              <a:t>very accurately</a:t>
            </a:r>
            <a:r>
              <a:rPr lang="en-GB" dirty="0"/>
              <a:t> tell you the </a:t>
            </a:r>
            <a:r>
              <a:rPr lang="en-GB" b="1" dirty="0"/>
              <a:t>quality of the air around you</a:t>
            </a:r>
            <a:r>
              <a:rPr lang="en-GB" dirty="0"/>
              <a:t> (PM2.5, ozone, humidity).</a:t>
            </a:r>
          </a:p>
          <a:p>
            <a:r>
              <a:rPr lang="en-GB" dirty="0"/>
              <a:t>Similarly, </a:t>
            </a:r>
            <a:r>
              <a:rPr lang="en-GB" dirty="0" err="1"/>
              <a:t>EnergyTrace</a:t>
            </a:r>
            <a:r>
              <a:rPr lang="en-GB" dirty="0"/>
              <a:t> doesn’t see your individual electrons — it measures the </a:t>
            </a:r>
            <a:r>
              <a:rPr lang="en-GB" b="1" dirty="0"/>
              <a:t>quality of your electricity supply</a:t>
            </a:r>
            <a:r>
              <a:rPr lang="en-GB" dirty="0"/>
              <a:t> in space and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33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2824-EE11-D66D-C496-21BB17B4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It’s Valuable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48AD-DF22-B329-C66D-9C947C7FB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most consumers and SMEs, this level of </a:t>
            </a:r>
            <a:r>
              <a:rPr lang="en-GB" b="1" dirty="0"/>
              <a:t>data transparency simply doesn’t exist yet</a:t>
            </a:r>
            <a:r>
              <a:rPr lang="en-GB" dirty="0"/>
              <a:t>.</a:t>
            </a:r>
          </a:p>
          <a:p>
            <a:r>
              <a:rPr lang="en-GB" dirty="0"/>
              <a:t>It allows </a:t>
            </a:r>
            <a:r>
              <a:rPr lang="en-GB" b="1" dirty="0"/>
              <a:t>carbon tracking</a:t>
            </a:r>
            <a:r>
              <a:rPr lang="en-GB" dirty="0"/>
              <a:t> for Scope 2 emissions in near real-time (a regulatory requirement under CSRD).</a:t>
            </a:r>
          </a:p>
          <a:p>
            <a:r>
              <a:rPr lang="en-GB" dirty="0"/>
              <a:t>It empowers users to </a:t>
            </a:r>
            <a:r>
              <a:rPr lang="en-GB" b="1" dirty="0"/>
              <a:t>shift </a:t>
            </a:r>
            <a:r>
              <a:rPr lang="en-GB" b="1" dirty="0" err="1"/>
              <a:t>behavior</a:t>
            </a:r>
            <a:r>
              <a:rPr lang="en-GB" dirty="0"/>
              <a:t> — e.g., doing laundry when the grid is cleanest.</a:t>
            </a:r>
          </a:p>
          <a:p>
            <a:r>
              <a:rPr lang="en-GB" dirty="0"/>
              <a:t>It can later evolve into </a:t>
            </a:r>
            <a:r>
              <a:rPr lang="en-GB" b="1" dirty="0"/>
              <a:t>automated flexibility actions (</a:t>
            </a:r>
            <a:r>
              <a:rPr lang="en-GB" b="1" dirty="0" err="1"/>
              <a:t>FlexiWatt</a:t>
            </a:r>
            <a:r>
              <a:rPr lang="en-GB" b="1" dirty="0"/>
              <a:t>)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175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8D87-613E-A4EC-4838-3DD43B26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So, </a:t>
            </a:r>
            <a:r>
              <a:rPr lang="en-GB" dirty="0" err="1"/>
              <a:t>EnergyTrace</a:t>
            </a:r>
            <a:r>
              <a:rPr lang="en-GB" dirty="0"/>
              <a:t> =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0D77-F3D6-9E71-4234-BF88BEB2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Grid-aware carbon intensity monitor</a:t>
            </a:r>
            <a:r>
              <a:rPr lang="en-GB" dirty="0"/>
              <a:t> +</a:t>
            </a:r>
            <a:br>
              <a:rPr lang="en-GB" dirty="0"/>
            </a:br>
            <a:r>
              <a:rPr lang="en-GB" b="1" dirty="0"/>
              <a:t>User </a:t>
            </a:r>
            <a:r>
              <a:rPr lang="en-GB" b="1" dirty="0" err="1"/>
              <a:t>behavior</a:t>
            </a:r>
            <a:r>
              <a:rPr lang="en-GB" b="1" dirty="0"/>
              <a:t> insight tool</a:t>
            </a:r>
            <a:r>
              <a:rPr lang="en-GB" dirty="0"/>
              <a:t> +</a:t>
            </a:r>
            <a:br>
              <a:rPr lang="en-GB" dirty="0"/>
            </a:br>
            <a:r>
              <a:rPr lang="en-GB" b="1" dirty="0"/>
              <a:t>Decision support layer</a:t>
            </a:r>
            <a:r>
              <a:rPr lang="en-GB" dirty="0"/>
              <a:t> for when electricity is greenest.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2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7814-C001-0A12-FF7E-F2F18B35F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3BC7A-65F7-8E49-88A7-4B7292608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/>
              <a:t>EnergyTrace</a:t>
            </a:r>
            <a:r>
              <a:rPr lang="en-GB" dirty="0"/>
              <a:t> makes the clean energy transition tangible for everyone.</a:t>
            </a:r>
            <a:br>
              <a:rPr lang="en-GB" dirty="0"/>
            </a:br>
            <a:r>
              <a:rPr lang="en-GB" dirty="0"/>
              <a:t>We translate live grid data into personal, hour-by-hour insights—showing when electricity is cleanest and how much carbon you actually avoided.</a:t>
            </a:r>
            <a:br>
              <a:rPr lang="en-GB" dirty="0"/>
            </a:br>
            <a:r>
              <a:rPr lang="en-GB" dirty="0"/>
              <a:t>Start with transparency; graduate to automation.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04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FC6-2DBB-966E-7267-282CC31A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914EE-E87C-0105-6F61-381F034B6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166" y="1690688"/>
            <a:ext cx="2005428" cy="4351338"/>
          </a:xfr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4EBF5CC1-460E-BFFC-F402-9959B2418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378" y="1690688"/>
            <a:ext cx="2043888" cy="4434785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831B2A36-5681-C27C-22CF-CA77912D7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051" y="1690688"/>
            <a:ext cx="2043888" cy="44347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291E4E-6201-78CA-F1E4-E899008D0BF7}"/>
              </a:ext>
            </a:extLst>
          </p:cNvPr>
          <p:cNvSpPr txBox="1"/>
          <p:nvPr/>
        </p:nvSpPr>
        <p:spPr>
          <a:xfrm>
            <a:off x="4550982" y="6308209"/>
            <a:ext cx="1738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of the grid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6D1F7-25B0-1A99-E71C-4E08795EE4EF}"/>
              </a:ext>
            </a:extLst>
          </p:cNvPr>
          <p:cNvSpPr txBox="1"/>
          <p:nvPr/>
        </p:nvSpPr>
        <p:spPr>
          <a:xfrm>
            <a:off x="8131051" y="6308209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Emissions of the grid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BB9D8-03CB-A2B3-D905-8242460C0722}"/>
              </a:ext>
            </a:extLst>
          </p:cNvPr>
          <p:cNvSpPr txBox="1"/>
          <p:nvPr/>
        </p:nvSpPr>
        <p:spPr>
          <a:xfrm>
            <a:off x="187622" y="6198084"/>
            <a:ext cx="3173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postcode search and no individual energy use</a:t>
            </a:r>
          </a:p>
        </p:txBody>
      </p:sp>
    </p:spTree>
    <p:extLst>
      <p:ext uri="{BB962C8B-B14F-4D97-AF65-F5344CB8AC3E}">
        <p14:creationId xmlns:p14="http://schemas.microsoft.com/office/powerpoint/2010/main" val="347105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1451</Words>
  <Application>Microsoft Macintosh PowerPoint</Application>
  <PresentationFormat>Widescreen</PresentationFormat>
  <Paragraphs>125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EnergyTrace</vt:lpstr>
      <vt:lpstr>The Problem</vt:lpstr>
      <vt:lpstr>Concept</vt:lpstr>
      <vt:lpstr>Target Users</vt:lpstr>
      <vt:lpstr>MVP Features</vt:lpstr>
      <vt:lpstr>Business Model</vt:lpstr>
      <vt:lpstr>Sustainability Impact</vt:lpstr>
      <vt:lpstr>Example MVP Vision</vt:lpstr>
      <vt:lpstr>Growth Strategy – Phase 1</vt:lpstr>
      <vt:lpstr>Growth Strategy – Phase 2</vt:lpstr>
      <vt:lpstr>PowerPoint Presentation</vt:lpstr>
      <vt:lpstr>How “EnergyTrace” Works (Technically)</vt:lpstr>
      <vt:lpstr>How “EnergyTrace” Works (Technically) - cont</vt:lpstr>
      <vt:lpstr>Analogy</vt:lpstr>
      <vt:lpstr>Why It’s Valuable</vt:lpstr>
      <vt:lpstr>So, EnergyTrace =</vt:lpstr>
      <vt:lpstr>PowerPoint Presentation</vt:lpstr>
      <vt:lpstr>Competition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Larisa Petrakova</dc:creator>
  <cp:lastModifiedBy>Larisa Petrakova</cp:lastModifiedBy>
  <cp:revision>3</cp:revision>
  <dcterms:created xsi:type="dcterms:W3CDTF">2025-11-03T15:51:44Z</dcterms:created>
  <dcterms:modified xsi:type="dcterms:W3CDTF">2025-11-04T11:28:08Z</dcterms:modified>
</cp:coreProperties>
</file>